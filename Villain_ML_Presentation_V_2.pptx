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6" r:id="rId5"/>
    <p:sldId id="267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3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Accuracy (%)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223-4D3C-95B2-808D79D1060D}"/>
              </c:ext>
            </c:extLst>
          </c:dPt>
          <c:dPt>
            <c:idx val="1"/>
            <c:invertIfNegative val="0"/>
            <c:bubble3D val="0"/>
            <c:spPr>
              <a:solidFill>
                <a:srgbClr val="F5B30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223-4D3C-95B2-808D79D1060D}"/>
              </c:ext>
            </c:extLst>
          </c:dPt>
          <c:dPt>
            <c:idx val="2"/>
            <c:invertIfNegative val="0"/>
            <c:bubble3D val="0"/>
            <c:spPr>
              <a:solidFill>
                <a:srgbClr val="977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223-4D3C-95B2-808D79D1060D}"/>
              </c:ext>
            </c:extLst>
          </c:dPt>
          <c:dPt>
            <c:idx val="3"/>
            <c:invertIfNegative val="0"/>
            <c:bubble3D val="0"/>
            <c:spPr>
              <a:solidFill>
                <a:srgbClr val="2FB3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223-4D3C-95B2-808D79D1060D}"/>
              </c:ext>
            </c:extLst>
          </c:dPt>
          <c:dPt>
            <c:idx val="4"/>
            <c:invertIfNegative val="0"/>
            <c:bubble3D val="0"/>
            <c:spPr>
              <a:solidFill>
                <a:srgbClr val="4C6E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223-4D3C-95B2-808D79D106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2B2D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Decision Tree</c:v>
                </c:pt>
                <c:pt idx="1">
                  <c:v>kNN</c:v>
                </c:pt>
                <c:pt idx="2">
                  <c:v>SVM</c:v>
                </c:pt>
                <c:pt idx="3">
                  <c:v>Naive Bayes</c:v>
                </c:pt>
                <c:pt idx="4">
                  <c:v>Logistic
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</c:v>
                </c:pt>
                <c:pt idx="1">
                  <c:v>79</c:v>
                </c:pt>
                <c:pt idx="2">
                  <c:v>84</c:v>
                </c:pt>
                <c:pt idx="3">
                  <c:v>86</c:v>
                </c:pt>
                <c:pt idx="4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223-4D3C-95B2-808D79D106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8F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968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15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EBF1F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FFF7E0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754880"/>
            <a:ext cx="2377440" cy="2377440"/>
          </a:xfrm>
          <a:prstGeom prst="ellipse">
            <a:avLst/>
          </a:prstGeom>
          <a:solidFill>
            <a:srgbClr val="FFEFEF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365760"/>
            <a:ext cx="2286000" cy="228600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6" name="Image 0" descr="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083" y="662940"/>
            <a:ext cx="1691640" cy="1691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427" y="2790998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 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088178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Machine Recognize</a:t>
            </a:r>
            <a:endParaRPr lang="en-US" sz="3800" dirty="0"/>
          </a:p>
          <a:p>
            <a:pPr marL="0" indent="0" algn="ctr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Villains?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463040" y="434686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 Supervised machine learning models to identify 5 villains — built in Orange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EBF1FF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035040"/>
            <a:ext cx="1737360" cy="1737360"/>
          </a:xfrm>
          <a:prstGeom prst="ellipse">
            <a:avLst/>
          </a:prstGeom>
          <a:solidFill>
            <a:srgbClr val="FFF7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5" name="Image 0" descr="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55824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4572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Goal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a photo → guess the villain.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 rot="-360000">
            <a:off x="685800" y="2377440"/>
            <a:ext cx="1874520" cy="2880360"/>
          </a:xfrm>
          <a:prstGeom prst="roundRect">
            <a:avLst>
              <a:gd name="adj" fmla="val 5854"/>
            </a:avLst>
          </a:prstGeom>
          <a:solidFill>
            <a:srgbClr val="EBF1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3816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13816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13816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941832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41832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69848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069848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69848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97864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97864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97864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 rot="480000">
            <a:off x="843534" y="2393442"/>
            <a:ext cx="1559052" cy="1559052"/>
          </a:xfrm>
          <a:prstGeom prst="star10">
            <a:avLst/>
          </a:prstGeom>
          <a:solidFill>
            <a:srgbClr val="F5B301"/>
          </a:solidFill>
          <a:ln/>
        </p:spPr>
      </p:sp>
      <p:sp>
        <p:nvSpPr>
          <p:cNvPr id="22" name="Shape 19"/>
          <p:cNvSpPr/>
          <p:nvPr/>
        </p:nvSpPr>
        <p:spPr>
          <a:xfrm>
            <a:off x="1120140" y="2670048"/>
            <a:ext cx="1005840" cy="1005840"/>
          </a:xfrm>
          <a:prstGeom prst="ellipse">
            <a:avLst/>
          </a:prstGeom>
          <a:solidFill>
            <a:srgbClr val="4C6EF5"/>
          </a:solidFill>
          <a:ln w="38100">
            <a:solidFill>
              <a:srgbClr val="000000"/>
            </a:solidFill>
            <a:prstDash val="solid"/>
          </a:ln>
        </p:spPr>
      </p:sp>
      <p:pic>
        <p:nvPicPr>
          <p:cNvPr id="23" name="Image 1" descr="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99" y="2800807"/>
            <a:ext cx="744322" cy="74432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777240" y="4343400"/>
            <a:ext cx="1691640" cy="68580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7240" y="432511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Darth Vader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 rot="300000">
            <a:off x="2852928" y="2377440"/>
            <a:ext cx="1874520" cy="2880360"/>
          </a:xfrm>
          <a:prstGeom prst="roundRect">
            <a:avLst>
              <a:gd name="adj" fmla="val 5854"/>
            </a:avLst>
          </a:prstGeom>
          <a:solidFill>
            <a:srgbClr val="E9F9F1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980944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2980944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2980944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3108960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3108960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3108960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3236976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3236976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3236976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3364992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7" name="Shape 33"/>
          <p:cNvSpPr/>
          <p:nvPr/>
        </p:nvSpPr>
        <p:spPr>
          <a:xfrm>
            <a:off x="3364992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3364992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 rot="480000">
            <a:off x="3010662" y="2393442"/>
            <a:ext cx="1559052" cy="1559052"/>
          </a:xfrm>
          <a:prstGeom prst="star10">
            <a:avLst/>
          </a:prstGeom>
          <a:solidFill>
            <a:srgbClr val="F5B301"/>
          </a:solidFill>
          <a:ln/>
        </p:spPr>
      </p:sp>
      <p:sp>
        <p:nvSpPr>
          <p:cNvPr id="40" name="Shape 36"/>
          <p:cNvSpPr/>
          <p:nvPr/>
        </p:nvSpPr>
        <p:spPr>
          <a:xfrm>
            <a:off x="3287268" y="2670048"/>
            <a:ext cx="1005840" cy="1005840"/>
          </a:xfrm>
          <a:prstGeom prst="ellipse">
            <a:avLst/>
          </a:prstGeom>
          <a:solidFill>
            <a:srgbClr val="2FB380"/>
          </a:solidFill>
          <a:ln w="38100">
            <a:solidFill>
              <a:srgbClr val="000000"/>
            </a:solidFill>
            <a:prstDash val="solid"/>
          </a:ln>
        </p:spPr>
      </p:sp>
      <p:pic>
        <p:nvPicPr>
          <p:cNvPr id="41" name="Image 2" descr="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027" y="2800807"/>
            <a:ext cx="744322" cy="744322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944368" y="4343400"/>
            <a:ext cx="1691640" cy="68580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944368" y="432511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Goblin</a:t>
            </a:r>
            <a:endParaRPr lang="en-US" sz="1350" dirty="0"/>
          </a:p>
        </p:txBody>
      </p:sp>
      <p:sp>
        <p:nvSpPr>
          <p:cNvPr id="44" name="Shape 39"/>
          <p:cNvSpPr/>
          <p:nvPr/>
        </p:nvSpPr>
        <p:spPr>
          <a:xfrm rot="-420000">
            <a:off x="5020056" y="2377440"/>
            <a:ext cx="1874520" cy="2880360"/>
          </a:xfrm>
          <a:prstGeom prst="roundRect">
            <a:avLst>
              <a:gd name="adj" fmla="val 5854"/>
            </a:avLst>
          </a:prstGeom>
          <a:solidFill>
            <a:srgbClr val="F3EFFE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5148072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46" name="Shape 41"/>
          <p:cNvSpPr/>
          <p:nvPr/>
        </p:nvSpPr>
        <p:spPr>
          <a:xfrm>
            <a:off x="5148072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47" name="Shape 42"/>
          <p:cNvSpPr/>
          <p:nvPr/>
        </p:nvSpPr>
        <p:spPr>
          <a:xfrm>
            <a:off x="5148072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48" name="Shape 43"/>
          <p:cNvSpPr/>
          <p:nvPr/>
        </p:nvSpPr>
        <p:spPr>
          <a:xfrm>
            <a:off x="5276088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49" name="Shape 44"/>
          <p:cNvSpPr/>
          <p:nvPr/>
        </p:nvSpPr>
        <p:spPr>
          <a:xfrm>
            <a:off x="5276088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0" name="Shape 45"/>
          <p:cNvSpPr/>
          <p:nvPr/>
        </p:nvSpPr>
        <p:spPr>
          <a:xfrm>
            <a:off x="5276088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1" name="Shape 46"/>
          <p:cNvSpPr/>
          <p:nvPr/>
        </p:nvSpPr>
        <p:spPr>
          <a:xfrm>
            <a:off x="5404104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2" name="Shape 47"/>
          <p:cNvSpPr/>
          <p:nvPr/>
        </p:nvSpPr>
        <p:spPr>
          <a:xfrm>
            <a:off x="5404104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3" name="Shape 48"/>
          <p:cNvSpPr/>
          <p:nvPr/>
        </p:nvSpPr>
        <p:spPr>
          <a:xfrm>
            <a:off x="5404104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4" name="Shape 49"/>
          <p:cNvSpPr/>
          <p:nvPr/>
        </p:nvSpPr>
        <p:spPr>
          <a:xfrm>
            <a:off x="5532120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5" name="Shape 50"/>
          <p:cNvSpPr/>
          <p:nvPr/>
        </p:nvSpPr>
        <p:spPr>
          <a:xfrm>
            <a:off x="5532120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6" name="Shape 51"/>
          <p:cNvSpPr/>
          <p:nvPr/>
        </p:nvSpPr>
        <p:spPr>
          <a:xfrm>
            <a:off x="5532120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7" name="Shape 52"/>
          <p:cNvSpPr/>
          <p:nvPr/>
        </p:nvSpPr>
        <p:spPr>
          <a:xfrm rot="480000">
            <a:off x="5177790" y="2393442"/>
            <a:ext cx="1559052" cy="1559052"/>
          </a:xfrm>
          <a:prstGeom prst="star10">
            <a:avLst/>
          </a:prstGeom>
          <a:solidFill>
            <a:srgbClr val="F5B301"/>
          </a:solidFill>
          <a:ln/>
        </p:spPr>
      </p:sp>
      <p:sp>
        <p:nvSpPr>
          <p:cNvPr id="58" name="Shape 53"/>
          <p:cNvSpPr/>
          <p:nvPr/>
        </p:nvSpPr>
        <p:spPr>
          <a:xfrm>
            <a:off x="5454396" y="2670048"/>
            <a:ext cx="1005840" cy="1005840"/>
          </a:xfrm>
          <a:prstGeom prst="ellipse">
            <a:avLst/>
          </a:prstGeom>
          <a:solidFill>
            <a:srgbClr val="9775FA"/>
          </a:solidFill>
          <a:ln w="38100">
            <a:solidFill>
              <a:srgbClr val="000000"/>
            </a:solidFill>
            <a:prstDash val="solid"/>
          </a:ln>
        </p:spPr>
      </p:sp>
      <p:pic>
        <p:nvPicPr>
          <p:cNvPr id="59" name="Image 3" descr="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155" y="2800807"/>
            <a:ext cx="744322" cy="744322"/>
          </a:xfrm>
          <a:prstGeom prst="rect">
            <a:avLst/>
          </a:prstGeom>
        </p:spPr>
      </p:pic>
      <p:sp>
        <p:nvSpPr>
          <p:cNvPr id="60" name="Shape 54"/>
          <p:cNvSpPr/>
          <p:nvPr/>
        </p:nvSpPr>
        <p:spPr>
          <a:xfrm>
            <a:off x="5111496" y="4343400"/>
            <a:ext cx="1691640" cy="68580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5111496" y="432511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Joker</a:t>
            </a:r>
            <a:endParaRPr lang="en-US" sz="1350" dirty="0"/>
          </a:p>
        </p:txBody>
      </p:sp>
      <p:sp>
        <p:nvSpPr>
          <p:cNvPr id="62" name="Shape 56"/>
          <p:cNvSpPr/>
          <p:nvPr/>
        </p:nvSpPr>
        <p:spPr>
          <a:xfrm rot="360000">
            <a:off x="7187184" y="2377440"/>
            <a:ext cx="1874520" cy="2880360"/>
          </a:xfrm>
          <a:prstGeom prst="roundRect">
            <a:avLst>
              <a:gd name="adj" fmla="val 5854"/>
            </a:avLst>
          </a:prstGeom>
          <a:solidFill>
            <a:srgbClr val="FFEFE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7315200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4" name="Shape 58"/>
          <p:cNvSpPr/>
          <p:nvPr/>
        </p:nvSpPr>
        <p:spPr>
          <a:xfrm>
            <a:off x="7315200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5" name="Shape 59"/>
          <p:cNvSpPr/>
          <p:nvPr/>
        </p:nvSpPr>
        <p:spPr>
          <a:xfrm>
            <a:off x="7315200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6" name="Shape 60"/>
          <p:cNvSpPr/>
          <p:nvPr/>
        </p:nvSpPr>
        <p:spPr>
          <a:xfrm>
            <a:off x="7443216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7" name="Shape 61"/>
          <p:cNvSpPr/>
          <p:nvPr/>
        </p:nvSpPr>
        <p:spPr>
          <a:xfrm>
            <a:off x="7443216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8" name="Shape 62"/>
          <p:cNvSpPr/>
          <p:nvPr/>
        </p:nvSpPr>
        <p:spPr>
          <a:xfrm>
            <a:off x="7443216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9" name="Shape 63"/>
          <p:cNvSpPr/>
          <p:nvPr/>
        </p:nvSpPr>
        <p:spPr>
          <a:xfrm>
            <a:off x="7571232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70" name="Shape 64"/>
          <p:cNvSpPr/>
          <p:nvPr/>
        </p:nvSpPr>
        <p:spPr>
          <a:xfrm>
            <a:off x="7571232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71" name="Shape 65"/>
          <p:cNvSpPr/>
          <p:nvPr/>
        </p:nvSpPr>
        <p:spPr>
          <a:xfrm>
            <a:off x="7571232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72" name="Shape 66"/>
          <p:cNvSpPr/>
          <p:nvPr/>
        </p:nvSpPr>
        <p:spPr>
          <a:xfrm>
            <a:off x="7699248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73" name="Shape 67"/>
          <p:cNvSpPr/>
          <p:nvPr/>
        </p:nvSpPr>
        <p:spPr>
          <a:xfrm>
            <a:off x="7699248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74" name="Shape 68"/>
          <p:cNvSpPr/>
          <p:nvPr/>
        </p:nvSpPr>
        <p:spPr>
          <a:xfrm>
            <a:off x="7699248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75" name="Shape 69"/>
          <p:cNvSpPr/>
          <p:nvPr/>
        </p:nvSpPr>
        <p:spPr>
          <a:xfrm rot="480000">
            <a:off x="7344918" y="2393442"/>
            <a:ext cx="1559052" cy="1559052"/>
          </a:xfrm>
          <a:prstGeom prst="star10">
            <a:avLst/>
          </a:prstGeom>
          <a:solidFill>
            <a:srgbClr val="F5B301"/>
          </a:solidFill>
          <a:ln/>
        </p:spPr>
      </p:sp>
      <p:sp>
        <p:nvSpPr>
          <p:cNvPr id="76" name="Shape 70"/>
          <p:cNvSpPr/>
          <p:nvPr/>
        </p:nvSpPr>
        <p:spPr>
          <a:xfrm>
            <a:off x="7621524" y="2670048"/>
            <a:ext cx="1005840" cy="1005840"/>
          </a:xfrm>
          <a:prstGeom prst="ellipse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pic>
        <p:nvPicPr>
          <p:cNvPr id="77" name="Image 4" descr="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283" y="2800807"/>
            <a:ext cx="744322" cy="744322"/>
          </a:xfrm>
          <a:prstGeom prst="rect">
            <a:avLst/>
          </a:prstGeom>
        </p:spPr>
      </p:pic>
      <p:sp>
        <p:nvSpPr>
          <p:cNvPr id="78" name="Shape 71"/>
          <p:cNvSpPr/>
          <p:nvPr/>
        </p:nvSpPr>
        <p:spPr>
          <a:xfrm>
            <a:off x="7278624" y="4343400"/>
            <a:ext cx="1691640" cy="68580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7278624" y="432511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Thanos</a:t>
            </a:r>
            <a:endParaRPr lang="en-US" sz="1350" dirty="0"/>
          </a:p>
        </p:txBody>
      </p:sp>
      <p:sp>
        <p:nvSpPr>
          <p:cNvPr id="80" name="Shape 73"/>
          <p:cNvSpPr/>
          <p:nvPr/>
        </p:nvSpPr>
        <p:spPr>
          <a:xfrm rot="-300000">
            <a:off x="9354312" y="2391295"/>
            <a:ext cx="1874520" cy="2880360"/>
          </a:xfrm>
          <a:prstGeom prst="roundRect">
            <a:avLst>
              <a:gd name="adj" fmla="val 5854"/>
            </a:avLst>
          </a:prstGeom>
          <a:solidFill>
            <a:srgbClr val="FFF7E0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9482328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2" name="Shape 75"/>
          <p:cNvSpPr/>
          <p:nvPr/>
        </p:nvSpPr>
        <p:spPr>
          <a:xfrm>
            <a:off x="9482328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3" name="Shape 76"/>
          <p:cNvSpPr/>
          <p:nvPr/>
        </p:nvSpPr>
        <p:spPr>
          <a:xfrm>
            <a:off x="9482328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4" name="Shape 77"/>
          <p:cNvSpPr/>
          <p:nvPr/>
        </p:nvSpPr>
        <p:spPr>
          <a:xfrm>
            <a:off x="9610344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5" name="Shape 78"/>
          <p:cNvSpPr/>
          <p:nvPr/>
        </p:nvSpPr>
        <p:spPr>
          <a:xfrm>
            <a:off x="9610344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6" name="Shape 79"/>
          <p:cNvSpPr/>
          <p:nvPr/>
        </p:nvSpPr>
        <p:spPr>
          <a:xfrm>
            <a:off x="9610344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7" name="Shape 80"/>
          <p:cNvSpPr/>
          <p:nvPr/>
        </p:nvSpPr>
        <p:spPr>
          <a:xfrm>
            <a:off x="9738360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8" name="Shape 81"/>
          <p:cNvSpPr/>
          <p:nvPr/>
        </p:nvSpPr>
        <p:spPr>
          <a:xfrm>
            <a:off x="9738360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9" name="Shape 82"/>
          <p:cNvSpPr/>
          <p:nvPr/>
        </p:nvSpPr>
        <p:spPr>
          <a:xfrm>
            <a:off x="9738360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90" name="Shape 83"/>
          <p:cNvSpPr/>
          <p:nvPr/>
        </p:nvSpPr>
        <p:spPr>
          <a:xfrm>
            <a:off x="9866376" y="2505456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91" name="Shape 84"/>
          <p:cNvSpPr/>
          <p:nvPr/>
        </p:nvSpPr>
        <p:spPr>
          <a:xfrm>
            <a:off x="9866376" y="2633472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92" name="Shape 85"/>
          <p:cNvSpPr/>
          <p:nvPr/>
        </p:nvSpPr>
        <p:spPr>
          <a:xfrm>
            <a:off x="9866376" y="2761488"/>
            <a:ext cx="50292" cy="50292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93" name="Shape 86"/>
          <p:cNvSpPr/>
          <p:nvPr/>
        </p:nvSpPr>
        <p:spPr>
          <a:xfrm rot="480000">
            <a:off x="9512046" y="2393442"/>
            <a:ext cx="1559052" cy="1559052"/>
          </a:xfrm>
          <a:prstGeom prst="star10">
            <a:avLst/>
          </a:prstGeom>
          <a:solidFill>
            <a:srgbClr val="F5B301"/>
          </a:solidFill>
          <a:ln/>
        </p:spPr>
      </p:sp>
      <p:sp>
        <p:nvSpPr>
          <p:cNvPr id="94" name="Shape 87"/>
          <p:cNvSpPr/>
          <p:nvPr/>
        </p:nvSpPr>
        <p:spPr>
          <a:xfrm>
            <a:off x="9788652" y="2670048"/>
            <a:ext cx="1005840" cy="1005840"/>
          </a:xfrm>
          <a:prstGeom prst="ellipse">
            <a:avLst/>
          </a:prstGeom>
          <a:solidFill>
            <a:srgbClr val="F5B301"/>
          </a:solidFill>
          <a:ln w="38100">
            <a:solidFill>
              <a:srgbClr val="000000"/>
            </a:solidFill>
            <a:prstDash val="solid"/>
          </a:ln>
        </p:spPr>
      </p:sp>
      <p:pic>
        <p:nvPicPr>
          <p:cNvPr id="95" name="Image 5" descr="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411" y="2800807"/>
            <a:ext cx="744322" cy="744322"/>
          </a:xfrm>
          <a:prstGeom prst="rect">
            <a:avLst/>
          </a:prstGeom>
        </p:spPr>
      </p:pic>
      <p:sp>
        <p:nvSpPr>
          <p:cNvPr id="96" name="Shape 88"/>
          <p:cNvSpPr/>
          <p:nvPr/>
        </p:nvSpPr>
        <p:spPr>
          <a:xfrm>
            <a:off x="9445752" y="4343400"/>
            <a:ext cx="1691640" cy="68580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97" name="Text 89"/>
          <p:cNvSpPr/>
          <p:nvPr/>
        </p:nvSpPr>
        <p:spPr>
          <a:xfrm>
            <a:off x="9445752" y="432511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Venom</a:t>
            </a:r>
            <a:endParaRPr lang="en-US" sz="1350" dirty="0"/>
          </a:p>
        </p:txBody>
      </p:sp>
      <p:sp>
        <p:nvSpPr>
          <p:cNvPr id="98" name="Shape 90"/>
          <p:cNvSpPr/>
          <p:nvPr/>
        </p:nvSpPr>
        <p:spPr>
          <a:xfrm>
            <a:off x="2194560" y="5532120"/>
            <a:ext cx="7772400" cy="594360"/>
          </a:xfrm>
          <a:prstGeom prst="roundRect">
            <a:avLst>
              <a:gd name="adj" fmla="val 49231"/>
            </a:avLst>
          </a:prstGeom>
          <a:solidFill>
            <a:srgbClr val="F7F9FF"/>
          </a:solidFill>
          <a:ln/>
        </p:spPr>
      </p:sp>
      <p:sp>
        <p:nvSpPr>
          <p:cNvPr id="99" name="Text 91"/>
          <p:cNvSpPr/>
          <p:nvPr/>
        </p:nvSpPr>
        <p:spPr>
          <a:xfrm>
            <a:off x="2194560" y="55321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photos  •  5 villains  •  5 ML models</a:t>
            </a:r>
            <a:endParaRPr lang="en-US" sz="1350" dirty="0"/>
          </a:p>
        </p:txBody>
      </p:sp>
      <p:sp>
        <p:nvSpPr>
          <p:cNvPr id="100" name="Text 9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 · Orange Data Mining</a:t>
            </a:r>
            <a:endParaRPr lang="en-US" sz="1000" dirty="0"/>
          </a:p>
        </p:txBody>
      </p:sp>
      <p:sp>
        <p:nvSpPr>
          <p:cNvPr id="101" name="Text 9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8D5C1AF2-D816-4290-9AF7-DD50B4C01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676" y="2809951"/>
            <a:ext cx="744322" cy="744322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C0980971-82FA-4336-91D6-EB7F2B097B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775" y="2798064"/>
            <a:ext cx="870825" cy="706068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2AA5D564-D591-4DBC-84AF-FC70E1971F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5873" y="2798063"/>
            <a:ext cx="839977" cy="747065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C212EBD7-8331-461D-9B1D-908F0F78C2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2283" y="2778132"/>
            <a:ext cx="781036" cy="745535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7A5F9563-EF90-47B2-BD0A-4D05946A4A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8945" y="2811781"/>
            <a:ext cx="955547" cy="7333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EBF1FF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035040"/>
            <a:ext cx="1737360" cy="1737360"/>
          </a:xfrm>
          <a:prstGeom prst="ellipse">
            <a:avLst/>
          </a:prstGeom>
          <a:solidFill>
            <a:srgbClr val="FFF7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5" name="Image 0" descr="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55824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4572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Work?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280160" y="1417320"/>
            <a:ext cx="9601200" cy="3703320"/>
          </a:xfrm>
          <a:prstGeom prst="roundRect">
            <a:avLst>
              <a:gd name="adj" fmla="val 2469"/>
            </a:avLst>
          </a:prstGeom>
          <a:solidFill>
            <a:srgbClr val="F7F9FF"/>
          </a:solidFill>
          <a:ln/>
        </p:spPr>
      </p:sp>
      <p:pic>
        <p:nvPicPr>
          <p:cNvPr id="8" name="Image 1" descr="workflow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984248" y="999622"/>
            <a:ext cx="8119872" cy="418502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399032" y="5349240"/>
            <a:ext cx="585216" cy="585216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10" name="Image 2" descr="icon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110" y="5425318"/>
            <a:ext cx="433060" cy="4330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4360" y="60076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photos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3575304" y="5349240"/>
            <a:ext cx="585216" cy="585216"/>
          </a:xfrm>
          <a:prstGeom prst="ellipse">
            <a:avLst/>
          </a:prstGeom>
          <a:solidFill>
            <a:srgbClr val="9775FA"/>
          </a:solidFill>
          <a:ln/>
        </p:spPr>
      </p:sp>
      <p:pic>
        <p:nvPicPr>
          <p:cNvPr id="13" name="Image 3" descr="icons/per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382" y="5425318"/>
            <a:ext cx="433060" cy="4330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70632" y="60076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into numbers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5751576" y="5349240"/>
            <a:ext cx="585216" cy="585216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6" name="Image 4" descr="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7654" y="5425318"/>
            <a:ext cx="433060" cy="4330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46904" y="60076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5 models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7927848" y="5349240"/>
            <a:ext cx="585216" cy="585216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19" name="Image 5" descr="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3926" y="5425318"/>
            <a:ext cx="433060" cy="4330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23176" y="60076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score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10104120" y="5349240"/>
            <a:ext cx="585216" cy="585216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22" name="Image 6" descr="icons/gr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0198" y="5425318"/>
            <a:ext cx="433060" cy="4330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299448" y="60076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results</a:t>
            </a:r>
            <a:endParaRPr lang="en-US" sz="1150" dirty="0"/>
          </a:p>
        </p:txBody>
      </p:sp>
      <p:sp>
        <p:nvSpPr>
          <p:cNvPr id="24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 · Orange Data Mining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A1A2E"/>
          </a:solidFill>
          <a:ln/>
        </p:spPr>
      </p:sp>
      <p:pic>
        <p:nvPicPr>
          <p:cNvPr id="3" name="Image 0" descr="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573329"/>
            <a:ext cx="499262" cy="4992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Wins for Each Villain?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"Winner" = the model with the highest F1 score for that villain (F1 balances precision and recall into one fair number).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1088136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E7E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8745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D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Villain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291840" y="187452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D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0" y="187452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D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0" y="187452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D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587752"/>
            <a:ext cx="10881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58775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Darth Vader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2587752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0" y="2587752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15200" y="2587752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mix of correct hits with very few mistakes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3300984"/>
            <a:ext cx="10881360" cy="713232"/>
          </a:xfrm>
          <a:prstGeom prst="rect">
            <a:avLst/>
          </a:prstGeom>
          <a:solidFill>
            <a:srgbClr val="F7F7FA"/>
          </a:solidFill>
          <a:ln w="6350">
            <a:solidFill>
              <a:srgbClr val="E7E7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30098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Goblin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91840" y="3300984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43600" y="3300984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15200" y="330098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precision and recall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014216"/>
            <a:ext cx="10881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01421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291840" y="4014216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943600" y="4014216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0" y="4014216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precision, strong recall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727448"/>
            <a:ext cx="10881360" cy="713232"/>
          </a:xfrm>
          <a:prstGeom prst="rect">
            <a:avLst/>
          </a:prstGeom>
          <a:solidFill>
            <a:srgbClr val="F7F7FA"/>
          </a:solidFill>
          <a:ln w="6350">
            <a:solidFill>
              <a:srgbClr val="E7E7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472744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Thanos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291840" y="472744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943600" y="4727448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315200" y="4727448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balanced identification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5440680"/>
            <a:ext cx="10881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7E7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544068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Venom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291840" y="5440680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544068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315200" y="5440680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precision, no false alarms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 · Orange Data Mining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3" name="Image 0" descr="icons/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9" y="573329"/>
            <a:ext cx="499262" cy="4992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"Confusion Matrix"?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report card. Each row is a villain's real photos; each column is what the model guessed. Numbers running down the diagonal (top-left to bottom-right) are correct guesses — everything off the diagonal is a mix-up.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3291840"/>
            <a:ext cx="5120640" cy="2651760"/>
          </a:xfrm>
          <a:prstGeom prst="roundRect">
            <a:avLst>
              <a:gd name="adj" fmla="val 3448"/>
            </a:avLst>
          </a:prstGeom>
          <a:solidFill>
            <a:srgbClr val="F7F7FA"/>
          </a:solidFill>
          <a:ln w="12700">
            <a:solidFill>
              <a:srgbClr val="E7E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example, read from the matrix on the right: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Darth Vader: </a:t>
            </a: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 correctly matched, only 1 confused with Joker.
</a:t>
            </a: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Goblin: </a:t>
            </a: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correct, mostly confused with Thanos.
</a:t>
            </a: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got 88 out of 100 photos right overall.</a:t>
            </a:r>
            <a:endParaRPr lang="en-US" sz="1300" dirty="0"/>
          </a:p>
        </p:txBody>
      </p:sp>
      <p:pic>
        <p:nvPicPr>
          <p:cNvPr id="9" name="Image 1" descr="confmatrix_best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89320" y="1371600"/>
            <a:ext cx="5669280" cy="3977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89320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Logistic Regression's confusion matrix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 · Orange Data Mining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EBF1FF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035040"/>
            <a:ext cx="1737360" cy="1737360"/>
          </a:xfrm>
          <a:prstGeom prst="ellipse">
            <a:avLst/>
          </a:prstGeom>
          <a:solidFill>
            <a:srgbClr val="FFF7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5" name="Image 0" descr="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55824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4572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Model, Villain by Villain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 rot="-300000">
            <a:off x="594360" y="1554480"/>
            <a:ext cx="1993392" cy="4526280"/>
          </a:xfrm>
          <a:prstGeom prst="roundRect">
            <a:avLst>
              <a:gd name="adj" fmla="val 5505"/>
            </a:avLst>
          </a:prstGeom>
          <a:solidFill>
            <a:srgbClr val="EBF1F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13232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32104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32104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32104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950976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50976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950976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69848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069848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069848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 rot="480000">
            <a:off x="910742" y="1569110"/>
            <a:ext cx="1360627" cy="1360627"/>
          </a:xfrm>
          <a:prstGeom prst="star10">
            <a:avLst/>
          </a:prstGeom>
          <a:solidFill>
            <a:srgbClr val="F5B301"/>
          </a:solidFill>
          <a:ln/>
        </p:spPr>
      </p:sp>
      <p:sp>
        <p:nvSpPr>
          <p:cNvPr id="21" name="Shape 18"/>
          <p:cNvSpPr/>
          <p:nvPr/>
        </p:nvSpPr>
        <p:spPr>
          <a:xfrm>
            <a:off x="1152144" y="1810512"/>
            <a:ext cx="877824" cy="877824"/>
          </a:xfrm>
          <a:prstGeom prst="ellipse">
            <a:avLst/>
          </a:prstGeom>
          <a:solidFill>
            <a:srgbClr val="4C6EF5"/>
          </a:solidFill>
          <a:ln w="38100">
            <a:solidFill>
              <a:srgbClr val="000000"/>
            </a:solidFill>
            <a:prstDash val="solid"/>
          </a:ln>
        </p:spPr>
      </p:sp>
      <p:pic>
        <p:nvPicPr>
          <p:cNvPr id="22" name="Image 1" descr="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261" y="1924629"/>
            <a:ext cx="649590" cy="64959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04088" y="3017520"/>
            <a:ext cx="1773936" cy="566928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4088" y="2999232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Darth Vader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1316736" y="3794760"/>
            <a:ext cx="548640" cy="548640"/>
          </a:xfrm>
          <a:prstGeom prst="ellipse">
            <a:avLst/>
          </a:prstGeom>
          <a:solidFill>
            <a:srgbClr val="4C6EF5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26" name="Image 2" descr="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895344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7512" y="44348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67512" y="49377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2800" dirty="0"/>
          </a:p>
        </p:txBody>
      </p:sp>
      <p:sp>
        <p:nvSpPr>
          <p:cNvPr id="29" name="Text 24"/>
          <p:cNvSpPr/>
          <p:nvPr/>
        </p:nvSpPr>
        <p:spPr>
          <a:xfrm>
            <a:off x="667512" y="566928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 rot="240000">
            <a:off x="2843784" y="1554480"/>
            <a:ext cx="1993392" cy="4526280"/>
          </a:xfrm>
          <a:prstGeom prst="roundRect">
            <a:avLst>
              <a:gd name="adj" fmla="val 5505"/>
            </a:avLst>
          </a:prstGeom>
          <a:solidFill>
            <a:srgbClr val="E9F9F1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2962656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2" name="Shape 27"/>
          <p:cNvSpPr/>
          <p:nvPr/>
        </p:nvSpPr>
        <p:spPr>
          <a:xfrm>
            <a:off x="2962656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2962656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4" name="Shape 29"/>
          <p:cNvSpPr/>
          <p:nvPr/>
        </p:nvSpPr>
        <p:spPr>
          <a:xfrm>
            <a:off x="3081528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5" name="Shape 30"/>
          <p:cNvSpPr/>
          <p:nvPr/>
        </p:nvSpPr>
        <p:spPr>
          <a:xfrm>
            <a:off x="3081528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6" name="Shape 31"/>
          <p:cNvSpPr/>
          <p:nvPr/>
        </p:nvSpPr>
        <p:spPr>
          <a:xfrm>
            <a:off x="3081528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7" name="Shape 32"/>
          <p:cNvSpPr/>
          <p:nvPr/>
        </p:nvSpPr>
        <p:spPr>
          <a:xfrm>
            <a:off x="3200400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8" name="Shape 33"/>
          <p:cNvSpPr/>
          <p:nvPr/>
        </p:nvSpPr>
        <p:spPr>
          <a:xfrm>
            <a:off x="3200400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39" name="Shape 34"/>
          <p:cNvSpPr/>
          <p:nvPr/>
        </p:nvSpPr>
        <p:spPr>
          <a:xfrm>
            <a:off x="3200400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40" name="Shape 35"/>
          <p:cNvSpPr/>
          <p:nvPr/>
        </p:nvSpPr>
        <p:spPr>
          <a:xfrm>
            <a:off x="3319272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41" name="Shape 36"/>
          <p:cNvSpPr/>
          <p:nvPr/>
        </p:nvSpPr>
        <p:spPr>
          <a:xfrm>
            <a:off x="3319272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42" name="Shape 37"/>
          <p:cNvSpPr/>
          <p:nvPr/>
        </p:nvSpPr>
        <p:spPr>
          <a:xfrm>
            <a:off x="3319272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43" name="Shape 38"/>
          <p:cNvSpPr/>
          <p:nvPr/>
        </p:nvSpPr>
        <p:spPr>
          <a:xfrm rot="480000">
            <a:off x="3160166" y="1569110"/>
            <a:ext cx="1360627" cy="1360627"/>
          </a:xfrm>
          <a:prstGeom prst="star10">
            <a:avLst/>
          </a:prstGeom>
          <a:solidFill>
            <a:srgbClr val="F5B301"/>
          </a:solidFill>
          <a:ln/>
        </p:spPr>
      </p:sp>
      <p:sp>
        <p:nvSpPr>
          <p:cNvPr id="44" name="Shape 39"/>
          <p:cNvSpPr/>
          <p:nvPr/>
        </p:nvSpPr>
        <p:spPr>
          <a:xfrm>
            <a:off x="3401568" y="1810512"/>
            <a:ext cx="877824" cy="877824"/>
          </a:xfrm>
          <a:prstGeom prst="ellipse">
            <a:avLst/>
          </a:prstGeom>
          <a:solidFill>
            <a:srgbClr val="2FB380"/>
          </a:solidFill>
          <a:ln w="38100">
            <a:solidFill>
              <a:srgbClr val="000000"/>
            </a:solidFill>
            <a:prstDash val="solid"/>
          </a:ln>
        </p:spPr>
      </p:sp>
      <p:pic>
        <p:nvPicPr>
          <p:cNvPr id="45" name="Image 3" descr="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685" y="1924629"/>
            <a:ext cx="649590" cy="649590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2953512" y="3017520"/>
            <a:ext cx="1773936" cy="566928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2953512" y="2999232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Goblin</a:t>
            </a:r>
            <a:endParaRPr lang="en-US" sz="1350" dirty="0"/>
          </a:p>
        </p:txBody>
      </p:sp>
      <p:sp>
        <p:nvSpPr>
          <p:cNvPr id="48" name="Shape 42"/>
          <p:cNvSpPr/>
          <p:nvPr/>
        </p:nvSpPr>
        <p:spPr>
          <a:xfrm>
            <a:off x="3566160" y="3794760"/>
            <a:ext cx="548640" cy="548640"/>
          </a:xfrm>
          <a:prstGeom prst="ellipse">
            <a:avLst/>
          </a:prstGeom>
          <a:solidFill>
            <a:srgbClr val="2FB380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49" name="Image 4" descr="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3895344"/>
            <a:ext cx="347472" cy="347472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2916936" y="44348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B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51" name="Text 44"/>
          <p:cNvSpPr/>
          <p:nvPr/>
        </p:nvSpPr>
        <p:spPr>
          <a:xfrm>
            <a:off x="2916936" y="49377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2800" dirty="0"/>
          </a:p>
        </p:txBody>
      </p:sp>
      <p:sp>
        <p:nvSpPr>
          <p:cNvPr id="52" name="Text 45"/>
          <p:cNvSpPr/>
          <p:nvPr/>
        </p:nvSpPr>
        <p:spPr>
          <a:xfrm>
            <a:off x="2916936" y="566928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 rot="-360000">
            <a:off x="5093208" y="1554480"/>
            <a:ext cx="1993392" cy="4526280"/>
          </a:xfrm>
          <a:prstGeom prst="roundRect">
            <a:avLst>
              <a:gd name="adj" fmla="val 5505"/>
            </a:avLst>
          </a:prstGeom>
          <a:solidFill>
            <a:srgbClr val="F3EFFE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5212080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5" name="Shape 48"/>
          <p:cNvSpPr/>
          <p:nvPr/>
        </p:nvSpPr>
        <p:spPr>
          <a:xfrm>
            <a:off x="5212080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6" name="Shape 49"/>
          <p:cNvSpPr/>
          <p:nvPr/>
        </p:nvSpPr>
        <p:spPr>
          <a:xfrm>
            <a:off x="5212080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7" name="Shape 50"/>
          <p:cNvSpPr/>
          <p:nvPr/>
        </p:nvSpPr>
        <p:spPr>
          <a:xfrm>
            <a:off x="5330952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8" name="Shape 51"/>
          <p:cNvSpPr/>
          <p:nvPr/>
        </p:nvSpPr>
        <p:spPr>
          <a:xfrm>
            <a:off x="5330952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59" name="Shape 52"/>
          <p:cNvSpPr/>
          <p:nvPr/>
        </p:nvSpPr>
        <p:spPr>
          <a:xfrm>
            <a:off x="5330952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0" name="Shape 53"/>
          <p:cNvSpPr/>
          <p:nvPr/>
        </p:nvSpPr>
        <p:spPr>
          <a:xfrm>
            <a:off x="5449824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1" name="Shape 54"/>
          <p:cNvSpPr/>
          <p:nvPr/>
        </p:nvSpPr>
        <p:spPr>
          <a:xfrm>
            <a:off x="5449824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2" name="Shape 55"/>
          <p:cNvSpPr/>
          <p:nvPr/>
        </p:nvSpPr>
        <p:spPr>
          <a:xfrm>
            <a:off x="5449824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3" name="Shape 56"/>
          <p:cNvSpPr/>
          <p:nvPr/>
        </p:nvSpPr>
        <p:spPr>
          <a:xfrm>
            <a:off x="5568696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4" name="Shape 57"/>
          <p:cNvSpPr/>
          <p:nvPr/>
        </p:nvSpPr>
        <p:spPr>
          <a:xfrm>
            <a:off x="5568696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5" name="Shape 58"/>
          <p:cNvSpPr/>
          <p:nvPr/>
        </p:nvSpPr>
        <p:spPr>
          <a:xfrm>
            <a:off x="5568696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66" name="Shape 59"/>
          <p:cNvSpPr/>
          <p:nvPr/>
        </p:nvSpPr>
        <p:spPr>
          <a:xfrm rot="480000">
            <a:off x="5409590" y="1569110"/>
            <a:ext cx="1360627" cy="1360627"/>
          </a:xfrm>
          <a:prstGeom prst="star10">
            <a:avLst/>
          </a:prstGeom>
          <a:solidFill>
            <a:srgbClr val="F5B301"/>
          </a:solidFill>
          <a:ln/>
        </p:spPr>
      </p:sp>
      <p:sp>
        <p:nvSpPr>
          <p:cNvPr id="67" name="Shape 60"/>
          <p:cNvSpPr/>
          <p:nvPr/>
        </p:nvSpPr>
        <p:spPr>
          <a:xfrm>
            <a:off x="5650992" y="1810512"/>
            <a:ext cx="877824" cy="877824"/>
          </a:xfrm>
          <a:prstGeom prst="ellipse">
            <a:avLst/>
          </a:prstGeom>
          <a:solidFill>
            <a:srgbClr val="9775FA"/>
          </a:solidFill>
          <a:ln w="38100">
            <a:solidFill>
              <a:srgbClr val="000000"/>
            </a:solidFill>
            <a:prstDash val="solid"/>
          </a:ln>
        </p:spPr>
      </p:sp>
      <p:pic>
        <p:nvPicPr>
          <p:cNvPr id="68" name="Image 5" descr="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109" y="1924629"/>
            <a:ext cx="649590" cy="649590"/>
          </a:xfrm>
          <a:prstGeom prst="rect">
            <a:avLst/>
          </a:prstGeom>
        </p:spPr>
      </p:pic>
      <p:sp>
        <p:nvSpPr>
          <p:cNvPr id="69" name="Shape 61"/>
          <p:cNvSpPr/>
          <p:nvPr/>
        </p:nvSpPr>
        <p:spPr>
          <a:xfrm>
            <a:off x="5202936" y="3017520"/>
            <a:ext cx="1773936" cy="566928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70" name="Text 62"/>
          <p:cNvSpPr/>
          <p:nvPr/>
        </p:nvSpPr>
        <p:spPr>
          <a:xfrm>
            <a:off x="5202936" y="2999232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Joker</a:t>
            </a:r>
            <a:endParaRPr lang="en-US" sz="1350" dirty="0"/>
          </a:p>
        </p:txBody>
      </p:sp>
      <p:sp>
        <p:nvSpPr>
          <p:cNvPr id="71" name="Shape 63"/>
          <p:cNvSpPr/>
          <p:nvPr/>
        </p:nvSpPr>
        <p:spPr>
          <a:xfrm>
            <a:off x="5815584" y="3794760"/>
            <a:ext cx="548640" cy="548640"/>
          </a:xfrm>
          <a:prstGeom prst="ellipse">
            <a:avLst/>
          </a:prstGeom>
          <a:solidFill>
            <a:srgbClr val="9775FA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72" name="Image 6" descr="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3895344"/>
            <a:ext cx="347472" cy="347472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5166360" y="44348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77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50" dirty="0"/>
          </a:p>
        </p:txBody>
      </p:sp>
      <p:sp>
        <p:nvSpPr>
          <p:cNvPr id="74" name="Text 65"/>
          <p:cNvSpPr/>
          <p:nvPr/>
        </p:nvSpPr>
        <p:spPr>
          <a:xfrm>
            <a:off x="5166360" y="49377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2800" dirty="0"/>
          </a:p>
        </p:txBody>
      </p:sp>
      <p:sp>
        <p:nvSpPr>
          <p:cNvPr id="75" name="Text 66"/>
          <p:cNvSpPr/>
          <p:nvPr/>
        </p:nvSpPr>
        <p:spPr>
          <a:xfrm>
            <a:off x="5166360" y="566928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76" name="Shape 67"/>
          <p:cNvSpPr/>
          <p:nvPr/>
        </p:nvSpPr>
        <p:spPr>
          <a:xfrm rot="300000">
            <a:off x="7342632" y="1554480"/>
            <a:ext cx="1993392" cy="4526280"/>
          </a:xfrm>
          <a:prstGeom prst="roundRect">
            <a:avLst>
              <a:gd name="adj" fmla="val 5505"/>
            </a:avLst>
          </a:prstGeom>
          <a:solidFill>
            <a:srgbClr val="FFEFEF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77" name="Shape 68"/>
          <p:cNvSpPr/>
          <p:nvPr/>
        </p:nvSpPr>
        <p:spPr>
          <a:xfrm>
            <a:off x="7461504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78" name="Shape 69"/>
          <p:cNvSpPr/>
          <p:nvPr/>
        </p:nvSpPr>
        <p:spPr>
          <a:xfrm>
            <a:off x="7461504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79" name="Shape 70"/>
          <p:cNvSpPr/>
          <p:nvPr/>
        </p:nvSpPr>
        <p:spPr>
          <a:xfrm>
            <a:off x="7461504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0" name="Shape 71"/>
          <p:cNvSpPr/>
          <p:nvPr/>
        </p:nvSpPr>
        <p:spPr>
          <a:xfrm>
            <a:off x="7580376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1" name="Shape 72"/>
          <p:cNvSpPr/>
          <p:nvPr/>
        </p:nvSpPr>
        <p:spPr>
          <a:xfrm>
            <a:off x="7580376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2" name="Shape 73"/>
          <p:cNvSpPr/>
          <p:nvPr/>
        </p:nvSpPr>
        <p:spPr>
          <a:xfrm>
            <a:off x="7580376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3" name="Shape 74"/>
          <p:cNvSpPr/>
          <p:nvPr/>
        </p:nvSpPr>
        <p:spPr>
          <a:xfrm>
            <a:off x="7699248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4" name="Shape 75"/>
          <p:cNvSpPr/>
          <p:nvPr/>
        </p:nvSpPr>
        <p:spPr>
          <a:xfrm>
            <a:off x="7699248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5" name="Shape 76"/>
          <p:cNvSpPr/>
          <p:nvPr/>
        </p:nvSpPr>
        <p:spPr>
          <a:xfrm>
            <a:off x="7699248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6" name="Shape 77"/>
          <p:cNvSpPr/>
          <p:nvPr/>
        </p:nvSpPr>
        <p:spPr>
          <a:xfrm>
            <a:off x="7818120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7" name="Shape 78"/>
          <p:cNvSpPr/>
          <p:nvPr/>
        </p:nvSpPr>
        <p:spPr>
          <a:xfrm>
            <a:off x="7818120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8" name="Shape 79"/>
          <p:cNvSpPr/>
          <p:nvPr/>
        </p:nvSpPr>
        <p:spPr>
          <a:xfrm>
            <a:off x="7818120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89" name="Shape 80"/>
          <p:cNvSpPr/>
          <p:nvPr/>
        </p:nvSpPr>
        <p:spPr>
          <a:xfrm rot="480000">
            <a:off x="7659014" y="1569110"/>
            <a:ext cx="1360627" cy="1360627"/>
          </a:xfrm>
          <a:prstGeom prst="star10">
            <a:avLst/>
          </a:prstGeom>
          <a:solidFill>
            <a:srgbClr val="F5B301"/>
          </a:solidFill>
          <a:ln/>
        </p:spPr>
      </p:sp>
      <p:sp>
        <p:nvSpPr>
          <p:cNvPr id="90" name="Shape 81"/>
          <p:cNvSpPr/>
          <p:nvPr/>
        </p:nvSpPr>
        <p:spPr>
          <a:xfrm>
            <a:off x="7900416" y="1810512"/>
            <a:ext cx="877824" cy="877824"/>
          </a:xfrm>
          <a:prstGeom prst="ellipse">
            <a:avLst/>
          </a:prstGeom>
          <a:solidFill>
            <a:srgbClr val="FF6B6B"/>
          </a:solidFill>
          <a:ln w="38100">
            <a:solidFill>
              <a:srgbClr val="000000"/>
            </a:solidFill>
            <a:prstDash val="solid"/>
          </a:ln>
        </p:spPr>
      </p:sp>
      <p:pic>
        <p:nvPicPr>
          <p:cNvPr id="91" name="Image 7" descr="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533" y="1924629"/>
            <a:ext cx="649590" cy="649590"/>
          </a:xfrm>
          <a:prstGeom prst="rect">
            <a:avLst/>
          </a:prstGeom>
        </p:spPr>
      </p:pic>
      <p:sp>
        <p:nvSpPr>
          <p:cNvPr id="92" name="Shape 82"/>
          <p:cNvSpPr/>
          <p:nvPr/>
        </p:nvSpPr>
        <p:spPr>
          <a:xfrm>
            <a:off x="7452360" y="3017520"/>
            <a:ext cx="1773936" cy="566928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93" name="Text 83"/>
          <p:cNvSpPr/>
          <p:nvPr/>
        </p:nvSpPr>
        <p:spPr>
          <a:xfrm>
            <a:off x="7452360" y="2999232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Thanos</a:t>
            </a:r>
            <a:endParaRPr lang="en-US" sz="1350" dirty="0"/>
          </a:p>
        </p:txBody>
      </p:sp>
      <p:sp>
        <p:nvSpPr>
          <p:cNvPr id="94" name="Shape 84"/>
          <p:cNvSpPr/>
          <p:nvPr/>
        </p:nvSpPr>
        <p:spPr>
          <a:xfrm>
            <a:off x="8065008" y="3794760"/>
            <a:ext cx="548640" cy="548640"/>
          </a:xfrm>
          <a:prstGeom prst="ellipse">
            <a:avLst/>
          </a:prstGeom>
          <a:solidFill>
            <a:srgbClr val="FF6B6B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95" name="Image 8" descr="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3895344"/>
            <a:ext cx="347472" cy="347472"/>
          </a:xfrm>
          <a:prstGeom prst="rect">
            <a:avLst/>
          </a:prstGeom>
        </p:spPr>
      </p:pic>
      <p:sp>
        <p:nvSpPr>
          <p:cNvPr id="96" name="Text 85"/>
          <p:cNvSpPr/>
          <p:nvPr/>
        </p:nvSpPr>
        <p:spPr>
          <a:xfrm>
            <a:off x="7415784" y="44348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50" dirty="0"/>
          </a:p>
        </p:txBody>
      </p:sp>
      <p:sp>
        <p:nvSpPr>
          <p:cNvPr id="97" name="Text 86"/>
          <p:cNvSpPr/>
          <p:nvPr/>
        </p:nvSpPr>
        <p:spPr>
          <a:xfrm>
            <a:off x="7415784" y="49377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2800" dirty="0"/>
          </a:p>
        </p:txBody>
      </p:sp>
      <p:sp>
        <p:nvSpPr>
          <p:cNvPr id="98" name="Text 87"/>
          <p:cNvSpPr/>
          <p:nvPr/>
        </p:nvSpPr>
        <p:spPr>
          <a:xfrm>
            <a:off x="7415784" y="566928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99" name="Shape 88"/>
          <p:cNvSpPr/>
          <p:nvPr/>
        </p:nvSpPr>
        <p:spPr>
          <a:xfrm rot="-240000">
            <a:off x="9592056" y="1554480"/>
            <a:ext cx="1993392" cy="4526280"/>
          </a:xfrm>
          <a:prstGeom prst="roundRect">
            <a:avLst>
              <a:gd name="adj" fmla="val 5505"/>
            </a:avLst>
          </a:prstGeom>
          <a:solidFill>
            <a:srgbClr val="FFF7E0"/>
          </a:solidFill>
          <a:ln w="31750">
            <a:solidFill>
              <a:srgbClr val="000000"/>
            </a:solidFill>
            <a:prstDash val="solid"/>
          </a:ln>
        </p:spPr>
      </p:sp>
      <p:sp>
        <p:nvSpPr>
          <p:cNvPr id="100" name="Shape 89"/>
          <p:cNvSpPr/>
          <p:nvPr/>
        </p:nvSpPr>
        <p:spPr>
          <a:xfrm>
            <a:off x="9710928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01" name="Shape 90"/>
          <p:cNvSpPr/>
          <p:nvPr/>
        </p:nvSpPr>
        <p:spPr>
          <a:xfrm>
            <a:off x="9710928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02" name="Shape 91"/>
          <p:cNvSpPr/>
          <p:nvPr/>
        </p:nvSpPr>
        <p:spPr>
          <a:xfrm>
            <a:off x="9710928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03" name="Shape 92"/>
          <p:cNvSpPr/>
          <p:nvPr/>
        </p:nvSpPr>
        <p:spPr>
          <a:xfrm>
            <a:off x="9829800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04" name="Shape 93"/>
          <p:cNvSpPr/>
          <p:nvPr/>
        </p:nvSpPr>
        <p:spPr>
          <a:xfrm>
            <a:off x="9829800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05" name="Shape 94"/>
          <p:cNvSpPr/>
          <p:nvPr/>
        </p:nvSpPr>
        <p:spPr>
          <a:xfrm>
            <a:off x="9829800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06" name="Shape 95"/>
          <p:cNvSpPr/>
          <p:nvPr/>
        </p:nvSpPr>
        <p:spPr>
          <a:xfrm>
            <a:off x="9948672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07" name="Shape 96"/>
          <p:cNvSpPr/>
          <p:nvPr/>
        </p:nvSpPr>
        <p:spPr>
          <a:xfrm>
            <a:off x="9948672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08" name="Shape 97"/>
          <p:cNvSpPr/>
          <p:nvPr/>
        </p:nvSpPr>
        <p:spPr>
          <a:xfrm>
            <a:off x="9948672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09" name="Shape 98"/>
          <p:cNvSpPr/>
          <p:nvPr/>
        </p:nvSpPr>
        <p:spPr>
          <a:xfrm>
            <a:off x="10067544" y="1673352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10" name="Shape 99"/>
          <p:cNvSpPr/>
          <p:nvPr/>
        </p:nvSpPr>
        <p:spPr>
          <a:xfrm>
            <a:off x="10067544" y="1792224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11" name="Shape 100"/>
          <p:cNvSpPr/>
          <p:nvPr/>
        </p:nvSpPr>
        <p:spPr>
          <a:xfrm>
            <a:off x="10067544" y="1911096"/>
            <a:ext cx="45720" cy="45720"/>
          </a:xfrm>
          <a:prstGeom prst="ellipse">
            <a:avLst/>
          </a:prstGeom>
          <a:solidFill>
            <a:srgbClr val="2B2D42">
              <a:alpha val="45000"/>
            </a:srgbClr>
          </a:solidFill>
          <a:ln/>
        </p:spPr>
      </p:sp>
      <p:sp>
        <p:nvSpPr>
          <p:cNvPr id="112" name="Shape 101"/>
          <p:cNvSpPr/>
          <p:nvPr/>
        </p:nvSpPr>
        <p:spPr>
          <a:xfrm rot="480000">
            <a:off x="9908438" y="1569110"/>
            <a:ext cx="1360627" cy="1360627"/>
          </a:xfrm>
          <a:prstGeom prst="star10">
            <a:avLst/>
          </a:prstGeom>
          <a:solidFill>
            <a:srgbClr val="F5B301"/>
          </a:solidFill>
          <a:ln/>
        </p:spPr>
      </p:sp>
      <p:sp>
        <p:nvSpPr>
          <p:cNvPr id="113" name="Shape 102"/>
          <p:cNvSpPr/>
          <p:nvPr/>
        </p:nvSpPr>
        <p:spPr>
          <a:xfrm>
            <a:off x="10149840" y="1810512"/>
            <a:ext cx="877824" cy="877824"/>
          </a:xfrm>
          <a:prstGeom prst="ellipse">
            <a:avLst/>
          </a:prstGeom>
          <a:solidFill>
            <a:srgbClr val="F5B301"/>
          </a:solidFill>
          <a:ln w="38100">
            <a:solidFill>
              <a:srgbClr val="000000"/>
            </a:solidFill>
            <a:prstDash val="solid"/>
          </a:ln>
        </p:spPr>
      </p:sp>
      <p:pic>
        <p:nvPicPr>
          <p:cNvPr id="114" name="Image 9" descr="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3957" y="1924629"/>
            <a:ext cx="649590" cy="649590"/>
          </a:xfrm>
          <a:prstGeom prst="rect">
            <a:avLst/>
          </a:prstGeom>
        </p:spPr>
      </p:pic>
      <p:sp>
        <p:nvSpPr>
          <p:cNvPr id="115" name="Shape 103"/>
          <p:cNvSpPr/>
          <p:nvPr/>
        </p:nvSpPr>
        <p:spPr>
          <a:xfrm>
            <a:off x="9701784" y="3017520"/>
            <a:ext cx="1773936" cy="566928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16" name="Text 104"/>
          <p:cNvSpPr/>
          <p:nvPr/>
        </p:nvSpPr>
        <p:spPr>
          <a:xfrm>
            <a:off x="9701784" y="2999232"/>
            <a:ext cx="17739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Venom</a:t>
            </a:r>
            <a:endParaRPr lang="en-US" sz="1350" dirty="0"/>
          </a:p>
        </p:txBody>
      </p:sp>
      <p:sp>
        <p:nvSpPr>
          <p:cNvPr id="117" name="Shape 105"/>
          <p:cNvSpPr/>
          <p:nvPr/>
        </p:nvSpPr>
        <p:spPr>
          <a:xfrm>
            <a:off x="10314432" y="3794760"/>
            <a:ext cx="548640" cy="548640"/>
          </a:xfrm>
          <a:prstGeom prst="ellipse">
            <a:avLst/>
          </a:prstGeom>
          <a:solidFill>
            <a:srgbClr val="F5B301"/>
          </a:solidFill>
          <a:ln w="31750">
            <a:solidFill>
              <a:srgbClr val="000000"/>
            </a:solidFill>
            <a:prstDash val="solid"/>
          </a:ln>
        </p:spPr>
      </p:sp>
      <p:pic>
        <p:nvPicPr>
          <p:cNvPr id="118" name="Image 10" descr="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16" y="3895344"/>
            <a:ext cx="347472" cy="347472"/>
          </a:xfrm>
          <a:prstGeom prst="rect">
            <a:avLst/>
          </a:prstGeom>
        </p:spPr>
      </p:pic>
      <p:sp>
        <p:nvSpPr>
          <p:cNvPr id="119" name="Text 106"/>
          <p:cNvSpPr/>
          <p:nvPr/>
        </p:nvSpPr>
        <p:spPr>
          <a:xfrm>
            <a:off x="9665208" y="443484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20" name="Text 107"/>
          <p:cNvSpPr/>
          <p:nvPr/>
        </p:nvSpPr>
        <p:spPr>
          <a:xfrm>
            <a:off x="9665208" y="49377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2800" dirty="0"/>
          </a:p>
        </p:txBody>
      </p:sp>
      <p:sp>
        <p:nvSpPr>
          <p:cNvPr id="121" name="Text 108"/>
          <p:cNvSpPr/>
          <p:nvPr/>
        </p:nvSpPr>
        <p:spPr>
          <a:xfrm>
            <a:off x="9665208" y="5669280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</p:txBody>
      </p:sp>
      <p:sp>
        <p:nvSpPr>
          <p:cNvPr id="122" name="Text 10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 · Orange Data Mining</a:t>
            </a:r>
            <a:endParaRPr lang="en-US" sz="1000" dirty="0"/>
          </a:p>
        </p:txBody>
      </p:sp>
      <p:sp>
        <p:nvSpPr>
          <p:cNvPr id="123" name="Text 1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C13815FA-FD37-4FE2-B2BE-F365B60F6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759" y="1892717"/>
            <a:ext cx="807209" cy="744322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F2CFA42C-10B1-43B1-BB9F-88049CF549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4652" y="1880830"/>
            <a:ext cx="748274" cy="706068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7C42BC17-53BE-4D19-9761-69760FA235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9922" y="1880830"/>
            <a:ext cx="750078" cy="693390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4DEA2683-2E99-431E-B244-9E09496816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291" y="1924629"/>
            <a:ext cx="656482" cy="681804"/>
          </a:xfrm>
          <a:prstGeom prst="rect">
            <a:avLst/>
          </a:prstGeom>
        </p:spPr>
      </p:pic>
      <p:pic>
        <p:nvPicPr>
          <p:cNvPr id="128" name="Picture 127">
            <a:extLst>
              <a:ext uri="{FF2B5EF4-FFF2-40B4-BE49-F238E27FC236}">
                <a16:creationId xmlns:a16="http://schemas.microsoft.com/office/drawing/2014/main" id="{51AB5FB2-710B-4635-97F5-D11F2F525E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4433" y="1921441"/>
            <a:ext cx="764808" cy="733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EBF1FF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035040"/>
            <a:ext cx="1737360" cy="1737360"/>
          </a:xfrm>
          <a:prstGeom prst="ellipse">
            <a:avLst/>
          </a:prstGeom>
          <a:solidFill>
            <a:srgbClr val="FFF7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5" name="Image 0" descr="icons/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55824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4572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Model Ranking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12801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all 100 photos correctly identified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1783080"/>
          <a:ext cx="108813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 · Orange Data Mining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-777240"/>
            <a:ext cx="1920240" cy="1920240"/>
          </a:xfrm>
          <a:prstGeom prst="ellipse">
            <a:avLst/>
          </a:prstGeom>
          <a:solidFill>
            <a:srgbClr val="EBF1FF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035040"/>
            <a:ext cx="1737360" cy="1737360"/>
          </a:xfrm>
          <a:prstGeom prst="ellipse">
            <a:avLst/>
          </a:prstGeom>
          <a:solidFill>
            <a:srgbClr val="FFF7E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5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" y="55824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4572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EBF1FF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2263140"/>
            <a:ext cx="822960" cy="822960"/>
          </a:xfrm>
          <a:prstGeom prst="ellipse">
            <a:avLst/>
          </a:prstGeom>
          <a:solidFill>
            <a:srgbClr val="4C6EF5"/>
          </a:solidFill>
          <a:ln/>
        </p:spPr>
      </p:sp>
      <p:pic>
        <p:nvPicPr>
          <p:cNvPr id="9" name="Image 1" descr="icons/a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385" y="2370125"/>
            <a:ext cx="608990" cy="6089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"best" model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920240" y="2651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winner changes per villain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169164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EFEF"/>
          </a:solidFill>
          <a:ln/>
        </p:spPr>
      </p:sp>
      <p:sp>
        <p:nvSpPr>
          <p:cNvPr id="13" name="Shape 9"/>
          <p:cNvSpPr/>
          <p:nvPr/>
        </p:nvSpPr>
        <p:spPr>
          <a:xfrm>
            <a:off x="6400800" y="2263140"/>
            <a:ext cx="822960" cy="822960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4" name="Image 2" descr="icons/git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785" y="2370125"/>
            <a:ext cx="608990" cy="6089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0116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Tree struggled most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406640" y="2651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59% correct overall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246120" y="390906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E9F9F1"/>
          </a:solidFill>
          <a:ln/>
        </p:spPr>
      </p:sp>
      <p:sp>
        <p:nvSpPr>
          <p:cNvPr id="18" name="Shape 13"/>
          <p:cNvSpPr/>
          <p:nvPr/>
        </p:nvSpPr>
        <p:spPr>
          <a:xfrm>
            <a:off x="3455097" y="4480560"/>
            <a:ext cx="822960" cy="822960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19" name="Image 3" descr="icons/per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2082" y="4557370"/>
            <a:ext cx="608990" cy="60899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52425" y="437769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models did best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4452425" y="5029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&amp; Logistic Regression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406640" y="4251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406640" y="4892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 · Orange Data Mining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EBF1FF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480560"/>
            <a:ext cx="3657600" cy="3657600"/>
          </a:xfrm>
          <a:prstGeom prst="ellipse">
            <a:avLst/>
          </a:prstGeom>
          <a:solidFill>
            <a:srgbClr val="FFF7E0"/>
          </a:solidFill>
          <a:ln/>
        </p:spPr>
      </p:sp>
      <p:sp>
        <p:nvSpPr>
          <p:cNvPr id="4" name="Shape 2"/>
          <p:cNvSpPr/>
          <p:nvPr/>
        </p:nvSpPr>
        <p:spPr>
          <a:xfrm>
            <a:off x="4956048" y="594360"/>
            <a:ext cx="2103120" cy="2103120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5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454" y="867766"/>
            <a:ext cx="1556309" cy="15563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880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— the Model You Choose Matters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ranged from 59% (Tree) to 88% (Logistic Regression)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651760" y="4434840"/>
            <a:ext cx="6858000" cy="10058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EBF1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51760" y="44348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</a:t>
            </a: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Naive Bayes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Questions?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Lab · Orange Data Mining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444</Words>
  <Application>Microsoft Office PowerPoint</Application>
  <PresentationFormat>Widescreen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Zaman</cp:lastModifiedBy>
  <cp:revision>11</cp:revision>
  <dcterms:created xsi:type="dcterms:W3CDTF">2026-09-08T22:41:46Z</dcterms:created>
  <dcterms:modified xsi:type="dcterms:W3CDTF">2026-09-09T22:41:21Z</dcterms:modified>
</cp:coreProperties>
</file>